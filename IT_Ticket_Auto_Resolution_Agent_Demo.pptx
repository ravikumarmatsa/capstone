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IT / Ticket Auto-Resolution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51560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2000" b="0">
                <a:solidFill>
                  <a:srgbClr val="CFE1F0"/>
                </a:solidFill>
                <a:latin typeface="Segoe UI"/>
              </a:rPr>
              <a:t>An Agentic AI system that analyzes IT tickets, finds root cause, and recommends or auto-executes resolutions.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1005840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600" b="1">
                <a:solidFill>
                  <a:srgbClr val="17A28C"/>
                </a:solidFill>
                <a:latin typeface="Segoe UI"/>
              </a:rPr>
              <a:t>Capstone CP06  •  DAAI Agentic AI — Advance CoP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35040"/>
            <a:ext cx="10058400" cy="5486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300" b="0">
                <a:solidFill>
                  <a:srgbClr val="B9D3EA"/>
                </a:solidFill>
                <a:latin typeface="Segoe UI"/>
              </a:rPr>
              <a:t>Stack: Python  •  LangChain (sequential agents)  •  llama3.2 (Ollama)  •  RAG (ChromaDB)  •  ServiceNow 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The Problem &amp; Our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51560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300" b="0">
                <a:solidFill>
                  <a:srgbClr val="B9D3EA"/>
                </a:solidFill>
                <a:latin typeface="Segoe UI"/>
              </a:rPr>
              <a:t>Why an agent for IT ticket resolution?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r"/>
            <a:r>
              <a:rPr sz="1000" b="0">
                <a:solidFill>
                  <a:srgbClr val="5B6670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2200" b="1">
                <a:solidFill>
                  <a:srgbClr val="0F2C4A"/>
                </a:solidFill>
                <a:latin typeface="Segoe U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IT teams handle high volumes of repetitive tickets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Manual triage is slow and inconsistent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Knowledge is buried in runbooks &amp; past incidents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Delays increase resolution time &amp; cost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Agents spend time on low-value, known fixes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03520" cy="4754880"/>
          </a:xfrm>
          <a:prstGeom prst="roundRect">
            <a:avLst/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75488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2200" b="1">
                <a:solidFill>
                  <a:srgbClr val="17A28C"/>
                </a:solidFill>
                <a:latin typeface="Segoe UI"/>
              </a:rPr>
              <a:t>Our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Autonomously analyze &amp; classify incoming tickets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Retrieve similar past resolutions using RAG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Recommend fixes with a confidence score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Safely auto-resolve pre-approved ticket types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Log every decision for audit &amp; explainability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51560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300" b="0">
                <a:solidFill>
                  <a:srgbClr val="B9D3EA"/>
                </a:solidFill>
                <a:latin typeface="Segoe UI"/>
              </a:rPr>
              <a:t>Six specialized agents in a sequential LangChain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r"/>
            <a:r>
              <a:rPr sz="1000" b="0">
                <a:solidFill>
                  <a:srgbClr val="5B6670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94560"/>
            <a:ext cx="2084831" cy="155448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  <a:latin typeface="Segoe UI"/>
              </a:rPr>
              <a:t>1  Ingestion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Fetch ticket
(ServiceNow / mock)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01311" y="2761488"/>
            <a:ext cx="127160" cy="411480"/>
          </a:xfrm>
          <a:prstGeom prst="rightArrow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33471" y="2194560"/>
            <a:ext cx="2084831" cy="155448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  <a:latin typeface="Segoe UI"/>
              </a:rPr>
              <a:t>2  Classification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LLM: type,
severity, confidence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23302" y="2761488"/>
            <a:ext cx="127160" cy="411480"/>
          </a:xfrm>
          <a:prstGeom prst="rightArrow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55462" y="2194560"/>
            <a:ext cx="2084831" cy="1554480"/>
          </a:xfrm>
          <a:prstGeom prst="roundRect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  <a:latin typeface="Segoe UI"/>
              </a:rPr>
              <a:t>3  Retrieval (RAG)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Top-k similar
resolutions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45293" y="2761488"/>
            <a:ext cx="127160" cy="411480"/>
          </a:xfrm>
          <a:prstGeom prst="rightArrow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77453" y="2194560"/>
            <a:ext cx="2084831" cy="1554480"/>
          </a:xfrm>
          <a:prstGeom prst="roundRect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  <a:latin typeface="Segoe UI"/>
              </a:rPr>
              <a:t>4  Decision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Recommend steps
+ confidence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67284" y="2761488"/>
            <a:ext cx="127160" cy="411480"/>
          </a:xfrm>
          <a:prstGeom prst="rightArrow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99444" y="2194560"/>
            <a:ext cx="2084831" cy="155448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  <a:latin typeface="Segoe UI"/>
              </a:rPr>
              <a:t>5  Execution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Auto-resolve
or recommend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114800"/>
            <a:ext cx="5394960" cy="914400"/>
          </a:xfrm>
          <a:prstGeom prst="round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5029200" cy="7315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300" b="0">
                <a:solidFill>
                  <a:srgbClr val="222A33"/>
                </a:solidFill>
                <a:latin typeface="Segoe UI"/>
              </a:rPr>
              <a:t>Knowledge Base (ChromaDB)
Runbooks + past incidents feed the RAG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114800"/>
            <a:ext cx="5577840" cy="914400"/>
          </a:xfrm>
          <a:prstGeom prst="roundRect">
            <a:avLst/>
          </a:prstGeom>
          <a:solidFill>
            <a:srgbClr val="FC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224528"/>
            <a:ext cx="5212080" cy="7315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300" b="0">
                <a:solidFill>
                  <a:srgbClr val="222A33"/>
                </a:solidFill>
                <a:latin typeface="Segoe UI"/>
              </a:rPr>
              <a:t>llama3.2 via Ollama (free/unlimited)
Network-first, with automatic offline fallback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212080"/>
            <a:ext cx="11201400" cy="822960"/>
          </a:xfrm>
          <a:prstGeom prst="round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321808"/>
            <a:ext cx="10881360" cy="6400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Logging &amp; Monitoring  —  every stage writes a structured JSON audit entry (explainability by design)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Decision Logic: Auto-Resolve vs. Escalate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51560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300" b="0">
                <a:solidFill>
                  <a:srgbClr val="B9D3EA"/>
                </a:solidFill>
                <a:latin typeface="Segoe UI"/>
              </a:rPr>
              <a:t>Safe automation with a confidence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r"/>
            <a:r>
              <a:rPr sz="1000" b="0">
                <a:solidFill>
                  <a:srgbClr val="5B6670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600" b="1">
                <a:solidFill>
                  <a:srgbClr val="5B6670"/>
                </a:solidFill>
                <a:latin typeface="Segoe UI"/>
              </a:rPr>
              <a:t>Ticket flows in →</a:t>
            </a:r>
          </a:p>
        </p:txBody>
      </p:sp>
      <p:sp>
        <p:nvSpPr>
          <p:cNvPr id="8" name="Diamond 7"/>
          <p:cNvSpPr/>
          <p:nvPr/>
        </p:nvSpPr>
        <p:spPr>
          <a:xfrm>
            <a:off x="4480560" y="1737360"/>
            <a:ext cx="3200400" cy="1737360"/>
          </a:xfrm>
          <a:prstGeom prst="diamond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Whitelisted type
AND confidence ≥ threshold?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23360"/>
            <a:ext cx="4572000" cy="1280160"/>
          </a:xfrm>
          <a:prstGeom prst="roundRect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4206240" cy="10058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YES → Execution Agent
Apply safe automated fix, set ticket to Resolved, comment steps taken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023360"/>
            <a:ext cx="4572000" cy="128016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160520"/>
            <a:ext cx="4206240" cy="10058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NO → Recommend &amp; Escalate
Post recommended steps, assign to human agent for approval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926080" y="3566160"/>
            <a:ext cx="457200" cy="411480"/>
          </a:xfrm>
          <a:prstGeom prst="downArrow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8778240" y="3566160"/>
            <a:ext cx="457200" cy="411480"/>
          </a:xfrm>
          <a:prstGeom prst="downArrow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5577840"/>
            <a:ext cx="10332720" cy="7315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222A33"/>
                </a:solidFill>
                <a:latin typeface="Segoe UI"/>
              </a:rPr>
              <a:t>Auto-resolve whitelist: Password Reset • VPN Connectivity • Disk Space Cleanup    |    Always human: Access/Permission Requests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51560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300" b="0">
                <a:solidFill>
                  <a:srgbClr val="B9D3EA"/>
                </a:solidFill>
                <a:latin typeface="Segoe UI"/>
              </a:rPr>
              <a:t>All open-source or provided — no paid licenses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r"/>
            <a:r>
              <a:rPr sz="1000" b="0">
                <a:solidFill>
                  <a:srgbClr val="5B6670"/>
                </a:solidFill>
                <a:latin typeface="Segoe U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743200" cy="50292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417320"/>
            <a:ext cx="4206240" cy="50292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417320"/>
            <a:ext cx="4114800" cy="50292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2743200" cy="5029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417320"/>
            <a:ext cx="4206240" cy="5029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Tool /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1417320"/>
            <a:ext cx="4114800" cy="5029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20240"/>
            <a:ext cx="274320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920240"/>
            <a:ext cx="420624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1920240"/>
            <a:ext cx="411480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920240"/>
            <a:ext cx="25603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400" b="1">
                <a:solidFill>
                  <a:srgbClr val="0F2C4A"/>
                </a:solidFill>
                <a:latin typeface="Segoe UI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402336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222A33"/>
                </a:solidFill>
                <a:latin typeface="Segoe UI"/>
              </a:rPr>
              <a:t>llama3.2 via Ollama (provided endpoint)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920240"/>
            <a:ext cx="39319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5B6670"/>
                </a:solidFill>
                <a:latin typeface="Segoe UI"/>
              </a:rPr>
              <a:t>Free tokens;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33472"/>
            <a:ext cx="27432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2633472"/>
            <a:ext cx="4206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2633472"/>
            <a:ext cx="4114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633472"/>
            <a:ext cx="25603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400" b="1">
                <a:solidFill>
                  <a:srgbClr val="0F2C4A"/>
                </a:solidFill>
                <a:latin typeface="Segoe UI"/>
              </a:rPr>
              <a:t>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633472"/>
            <a:ext cx="402336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222A33"/>
                </a:solidFill>
                <a:latin typeface="Segoe UI"/>
              </a:rPr>
              <a:t>LangChain sequential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633472"/>
            <a:ext cx="39319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5B6670"/>
                </a:solidFill>
                <a:latin typeface="Segoe UI"/>
              </a:rPr>
              <a:t>Simple, explainable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46704"/>
            <a:ext cx="274320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3346704"/>
            <a:ext cx="420624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3346704"/>
            <a:ext cx="411480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346704"/>
            <a:ext cx="25603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400" b="1">
                <a:solidFill>
                  <a:srgbClr val="0F2C4A"/>
                </a:solidFill>
                <a:latin typeface="Segoe UI"/>
              </a:rPr>
              <a:t>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346704"/>
            <a:ext cx="402336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222A33"/>
                </a:solidFill>
                <a:latin typeface="Segoe UI"/>
              </a:rPr>
              <a:t>ChromaDB + Ollama / TF-IDF 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346704"/>
            <a:ext cx="39319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5B6670"/>
                </a:solidFill>
                <a:latin typeface="Segoe UI"/>
              </a:rPr>
              <a:t>Network-first, offline-safe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059936"/>
            <a:ext cx="27432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4059936"/>
            <a:ext cx="4206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4059936"/>
            <a:ext cx="4114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059936"/>
            <a:ext cx="25603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400" b="1">
                <a:solidFill>
                  <a:srgbClr val="0F2C4A"/>
                </a:solidFill>
                <a:latin typeface="Segoe UI"/>
              </a:rPr>
              <a:t>ServiceNow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059936"/>
            <a:ext cx="402336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222A33"/>
                </a:solidFill>
                <a:latin typeface="Segoe UI"/>
              </a:rPr>
              <a:t>REST client stub + mock JSON 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059936"/>
            <a:ext cx="39319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5B6670"/>
                </a:solidFill>
                <a:latin typeface="Segoe UI"/>
              </a:rPr>
              <a:t>Demo without live credentials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73168"/>
            <a:ext cx="274320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91840" y="4773168"/>
            <a:ext cx="420624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79" y="4773168"/>
            <a:ext cx="411480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773168"/>
            <a:ext cx="25603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400" b="1">
                <a:solidFill>
                  <a:srgbClr val="0F2C4A"/>
                </a:solidFill>
                <a:latin typeface="Segoe UI"/>
              </a:rPr>
              <a:t>Config &amp; Secrets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4773168"/>
            <a:ext cx="402336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222A33"/>
                </a:solidFill>
                <a:latin typeface="Segoe UI"/>
              </a:rPr>
              <a:t>YAML + .env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4773168"/>
            <a:ext cx="39319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5B6670"/>
                </a:solidFill>
                <a:latin typeface="Segoe UI"/>
              </a:rPr>
              <a:t>Secure credential handling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486400"/>
            <a:ext cx="27432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91840" y="5486400"/>
            <a:ext cx="4206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98079" y="5486400"/>
            <a:ext cx="4114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486400"/>
            <a:ext cx="25603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400" b="1">
                <a:solidFill>
                  <a:srgbClr val="0F2C4A"/>
                </a:solidFill>
                <a:latin typeface="Segoe UI"/>
              </a:rPr>
              <a:t>Testing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486400"/>
            <a:ext cx="402336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222A33"/>
                </a:solidFill>
                <a:latin typeface="Segoe UI"/>
              </a:rPr>
              <a:t>14 unittest tests (incl. guardrails)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5486400"/>
            <a:ext cx="3931920" cy="71323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1300" b="0">
                <a:solidFill>
                  <a:srgbClr val="5B6670"/>
                </a:solidFill>
                <a:latin typeface="Segoe UI"/>
              </a:rPr>
              <a:t>Validates safe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51560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300" b="0">
                <a:solidFill>
                  <a:srgbClr val="B9D3EA"/>
                </a:solidFill>
                <a:latin typeface="Segoe UI"/>
              </a:rPr>
              <a:t>Two tickets,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r"/>
            <a:r>
              <a:rPr sz="1000" b="0">
                <a:solidFill>
                  <a:srgbClr val="5B6670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49240" cy="4480560"/>
          </a:xfrm>
          <a:prstGeom prst="roundRect">
            <a:avLst/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2000" b="1">
                <a:solidFill>
                  <a:srgbClr val="17A28C"/>
                </a:solidFill>
                <a:latin typeface="Segoe UI"/>
              </a:rPr>
              <a:t>Demo 1 — Auto-Resolve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Ingest a 'Password Reset' ticket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LLM classifies: Account, High confidence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RAG retrieves the reset runbook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Decision: whitelisted + confident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Execution auto-resolves the ticket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Status → Resolved, comment added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49240" cy="44805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54480"/>
            <a:ext cx="493776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2000" b="1">
                <a:solidFill>
                  <a:srgbClr val="1F6FB2"/>
                </a:solidFill>
                <a:latin typeface="Segoe UI"/>
              </a:rPr>
              <a:t>Demo 2 — Recommend &amp; Escalate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Ingest an 'Access Request' ticket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LLM classifies: Access / Permission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RAG retrieves the approval runbook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Decision: NOT auto-resolvable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Recommended steps posted to ticket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A33"/>
                </a:solidFill>
                <a:latin typeface="Segoe UI"/>
              </a:rPr>
              <a:t>•  Assigned to human for approval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Explainability &amp;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51560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300" b="0">
                <a:solidFill>
                  <a:srgbClr val="B9D3EA"/>
                </a:solidFill>
                <a:latin typeface="Segoe UI"/>
              </a:rPr>
              <a:t>Every decision is traceable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r"/>
            <a:r>
              <a:rPr sz="1000" b="0">
                <a:solidFill>
                  <a:srgbClr val="5B6670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Structured JSON log per ticket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Captures classification + confidence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Records retrieved knowledge sources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Logs the auto-resolve / escalate reason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Timestamps every agent action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22A33"/>
                </a:solidFill>
                <a:latin typeface="Segoe UI"/>
              </a:rPr>
              <a:t>•  Enables audit, debugging &amp; 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577840" cy="4480560"/>
          </a:xfrm>
          <a:prstGeom prst="roundRect">
            <a:avLst/>
          </a:prstGeom>
          <a:solidFill>
            <a:srgbClr val="22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CDCFE"/>
                </a:solidFill>
                <a:latin typeface="Consolas"/>
              </a:rPr>
              <a:t>{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"ticket_id": "INC0012",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"category": "Password Reset",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"severity": "High",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"confidence": 0.94,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"retrieved": ["kb/password_reset.md"],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"decision": "auto_resolve",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"action": "reset_password",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"status": "Resolved",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"timestamp": "2026-07-01T10:22Z"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Learnings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DCE9F4"/>
                </a:solidFill>
                <a:latin typeface="Segoe UI"/>
              </a:rPr>
              <a:t>•  Agentic pipelines make IT automation explainable and safe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DCE9F4"/>
                </a:solidFill>
                <a:latin typeface="Segoe UI"/>
              </a:rPr>
              <a:t>•  RAG grounds recommendations in real runbooks — fewer hallucinations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DCE9F4"/>
                </a:solidFill>
                <a:latin typeface="Segoe UI"/>
              </a:rPr>
              <a:t>•  Confidence + whitelist gate keeps auto-resolution safe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DCE9F4"/>
                </a:solidFill>
                <a:latin typeface="Segoe UI"/>
              </a:rPr>
              <a:t>•  Network-first design falls back to offline mode with no code changes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DCE9F4"/>
                </a:solidFill>
                <a:latin typeface="Segoe UI"/>
              </a:rPr>
              <a:t>•  14 automated tests validate the safety guardrails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DCE9F4"/>
                </a:solidFill>
                <a:latin typeface="Segoe UI"/>
              </a:rPr>
              <a:t>•  Next: connect the real ServiceNow instance via the REST client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DCE9F4"/>
                </a:solidFill>
                <a:latin typeface="Segoe UI"/>
              </a:rPr>
              <a:t>•  Next: expand knowledge base &amp; add more auto-resolve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2000" b="1">
                <a:solidFill>
                  <a:srgbClr val="17A28C"/>
                </a:solidFill>
                <a:latin typeface="Segoe UI"/>
              </a:rPr>
              <a:t>Thank you  —  IT / Ticket Auto-Resolution Agent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